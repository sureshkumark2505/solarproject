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60" r:id="rId3"/>
    <p:sldId id="258" r:id="rId4"/>
    <p:sldId id="261" r:id="rId5"/>
    <p:sldId id="265" r:id="rId6"/>
    <p:sldId id="259" r:id="rId7"/>
    <p:sldId id="262" r:id="rId8"/>
    <p:sldId id="263" r:id="rId9"/>
    <p:sldId id="266" r:id="rId10"/>
  </p:sldIdLst>
  <p:sldSz cx="18288000" cy="10287000"/>
  <p:notesSz cx="6858000" cy="9144000"/>
  <p:embeddedFontLst>
    <p:embeddedFont>
      <p:font typeface="Monda" panose="020B0604020202020204" charset="0"/>
      <p:regular r:id="rId11"/>
    </p:embeddedFont>
    <p:embeddedFont>
      <p:font typeface="Monda Bold" panose="020B0604020202020204" charset="0"/>
      <p:regular r:id="rId12"/>
    </p:embeddedFont>
    <p:embeddedFont>
      <p:font typeface="Montserrat Bold" panose="020B0604020202020204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45920" y="1138428"/>
            <a:ext cx="15087600" cy="534924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12000" spc="-75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0077" y="6683430"/>
            <a:ext cx="15087600" cy="17145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 algn="ctr">
              <a:buNone/>
              <a:defRPr sz="3600"/>
            </a:lvl2pPr>
            <a:lvl3pPr marL="1371600" indent="0" algn="ctr">
              <a:buNone/>
              <a:defRPr sz="3600"/>
            </a:lvl3pPr>
            <a:lvl4pPr marL="2057400" indent="0" algn="ctr">
              <a:buNone/>
              <a:defRPr sz="3000"/>
            </a:lvl4pPr>
            <a:lvl5pPr marL="2743200" indent="0" algn="ctr">
              <a:buNone/>
              <a:defRPr sz="3000"/>
            </a:lvl5pPr>
            <a:lvl6pPr marL="3429000" indent="0" algn="ctr">
              <a:buNone/>
              <a:defRPr sz="3000"/>
            </a:lvl6pPr>
            <a:lvl7pPr marL="4114800" indent="0" algn="ctr">
              <a:buNone/>
              <a:defRPr sz="3000"/>
            </a:lvl7pPr>
            <a:lvl8pPr marL="4800600" indent="0" algn="ctr">
              <a:buNone/>
              <a:defRPr sz="3000"/>
            </a:lvl8pPr>
            <a:lvl9pPr marL="5486400" indent="0" algn="ctr"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29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401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138428"/>
            <a:ext cx="15087600" cy="534924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12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6679692"/>
            <a:ext cx="15087600" cy="17145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3600" cap="all" spc="300" baseline="0">
                <a:solidFill>
                  <a:schemeClr val="tx2"/>
                </a:solidFill>
                <a:latin typeface="+mj-lt"/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811487" y="6515100"/>
            <a:ext cx="1481328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777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5919" y="2768601"/>
            <a:ext cx="740664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26880" y="2768603"/>
            <a:ext cx="7406640" cy="6035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25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0" y="3873501"/>
            <a:ext cx="7406640" cy="5067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26880" y="2769078"/>
            <a:ext cx="7406640" cy="1104423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3000" b="0" cap="all" baseline="0">
                <a:solidFill>
                  <a:schemeClr val="tx2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26880" y="3873501"/>
            <a:ext cx="7406640" cy="5067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128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89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78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5" y="0"/>
            <a:ext cx="6076187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060107" y="0"/>
            <a:ext cx="96012" cy="102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891538"/>
            <a:ext cx="4800600" cy="3429000"/>
          </a:xfrm>
        </p:spPr>
        <p:txBody>
          <a:bodyPr anchor="b">
            <a:norm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00900" y="1097280"/>
            <a:ext cx="9738360" cy="7886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389120"/>
            <a:ext cx="4800600" cy="5068686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98268" y="9689678"/>
            <a:ext cx="3927765" cy="547688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00900" y="9689678"/>
            <a:ext cx="6972300" cy="547688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80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7429500"/>
            <a:ext cx="18283238" cy="2857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23" y="737261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7612380"/>
            <a:ext cx="15169896" cy="1234440"/>
          </a:xfrm>
        </p:spPr>
        <p:txBody>
          <a:bodyPr lIns="91440" tIns="0" rIns="91440" bIns="0" anchor="b">
            <a:noAutofit/>
          </a:bodyPr>
          <a:lstStyle>
            <a:lvl1pPr>
              <a:defRPr sz="5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" y="0"/>
            <a:ext cx="18287978" cy="7372614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4800">
                <a:solidFill>
                  <a:schemeClr val="bg1"/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0" y="8860535"/>
            <a:ext cx="15169896" cy="89154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900"/>
              </a:spcAft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488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27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763" y="9601200"/>
            <a:ext cx="18283238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23" y="9501474"/>
            <a:ext cx="18283238" cy="960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622168"/>
            <a:ext cx="3943350" cy="86361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622167"/>
            <a:ext cx="11601450" cy="8636133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53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9601200"/>
            <a:ext cx="18288000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9501474"/>
            <a:ext cx="18288002" cy="98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45920" y="429905"/>
            <a:ext cx="15087600" cy="2176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2768601"/>
            <a:ext cx="15087600" cy="603504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1" y="9689678"/>
            <a:ext cx="3708407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5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29278" y="9689678"/>
            <a:ext cx="723420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5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850688" y="9689678"/>
            <a:ext cx="1968038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790298" y="2606768"/>
            <a:ext cx="149504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75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85000"/>
        </a:lnSpc>
        <a:spcBef>
          <a:spcPct val="0"/>
        </a:spcBef>
        <a:buNone/>
        <a:defRPr sz="7200" kern="1200" spc="-75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1371600" rtl="0" eaLnBrk="1" latinLnBrk="0" hangingPunct="1">
        <a:lnSpc>
          <a:spcPct val="90000"/>
        </a:lnSpc>
        <a:spcBef>
          <a:spcPts val="1800"/>
        </a:spcBef>
        <a:spcAft>
          <a:spcPts val="3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3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7607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039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12471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99032" indent="-27432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50000" indent="-342900" algn="l" defTabSz="1371600" rtl="0" eaLnBrk="1" latinLnBrk="0" hangingPunct="1">
        <a:lnSpc>
          <a:spcPct val="90000"/>
        </a:lnSpc>
        <a:spcBef>
          <a:spcPts val="300"/>
        </a:spcBef>
        <a:spcAft>
          <a:spcPts val="600"/>
        </a:spcAft>
        <a:buClr>
          <a:schemeClr val="accent1"/>
        </a:buClr>
        <a:buFont typeface="Calibri" pitchFamily="34" charset="0"/>
        <a:buChar char="◦"/>
        <a:defRPr sz="2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e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9.svg"/><Relationship Id="rId4" Type="http://schemas.openxmlformats.org/officeDocument/2006/relationships/image" Target="../media/image4.sv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2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48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0273276" y="5039691"/>
            <a:ext cx="8014721" cy="5247309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978" t="976" r="1000" b="-13372"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1" y="-1"/>
            <a:ext cx="7656226" cy="4836786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6" y="5948932"/>
                </a:lnTo>
                <a:lnTo>
                  <a:pt x="9295206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1724" t="2447" r="316" b="-2543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790631" y="-1"/>
            <a:ext cx="3497369" cy="4354746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1"/>
                </a:lnTo>
                <a:lnTo>
                  <a:pt x="0" y="77750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78541" r="-59222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6399495"/>
            <a:ext cx="4922503" cy="3887506"/>
          </a:xfrm>
          <a:custGeom>
            <a:avLst/>
            <a:gdLst/>
            <a:ahLst/>
            <a:cxnLst/>
            <a:rect l="l" t="t" r="r" b="b"/>
            <a:pathLst>
              <a:path w="5568589" h="7775011">
                <a:moveTo>
                  <a:pt x="0" y="0"/>
                </a:moveTo>
                <a:lnTo>
                  <a:pt x="5568589" y="0"/>
                </a:lnTo>
                <a:lnTo>
                  <a:pt x="5568589" y="7775012"/>
                </a:lnTo>
                <a:lnTo>
                  <a:pt x="0" y="77750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3126" b="-100000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41534" y="313408"/>
            <a:ext cx="16804932" cy="1430584"/>
            <a:chOff x="0" y="0"/>
            <a:chExt cx="22406576" cy="1907446"/>
          </a:xfrm>
        </p:grpSpPr>
        <p:sp>
          <p:nvSpPr>
            <p:cNvPr id="8" name="Freeform 8"/>
            <p:cNvSpPr/>
            <p:nvPr/>
          </p:nvSpPr>
          <p:spPr>
            <a:xfrm>
              <a:off x="0" y="150874"/>
              <a:ext cx="3712374" cy="1605698"/>
            </a:xfrm>
            <a:custGeom>
              <a:avLst/>
              <a:gdLst/>
              <a:ahLst/>
              <a:cxnLst/>
              <a:rect l="l" t="t" r="r" b="b"/>
              <a:pathLst>
                <a:path w="3712374" h="1605698">
                  <a:moveTo>
                    <a:pt x="0" y="0"/>
                  </a:moveTo>
                  <a:lnTo>
                    <a:pt x="3712374" y="0"/>
                  </a:lnTo>
                  <a:lnTo>
                    <a:pt x="3712374" y="1605698"/>
                  </a:lnTo>
                  <a:lnTo>
                    <a:pt x="0" y="1605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6714080" y="158453"/>
              <a:ext cx="5796843" cy="1605698"/>
            </a:xfrm>
            <a:custGeom>
              <a:avLst/>
              <a:gdLst/>
              <a:ahLst/>
              <a:cxnLst/>
              <a:rect l="l" t="t" r="r" b="b"/>
              <a:pathLst>
                <a:path w="5796843" h="1605698">
                  <a:moveTo>
                    <a:pt x="0" y="0"/>
                  </a:moveTo>
                  <a:lnTo>
                    <a:pt x="5796842" y="0"/>
                  </a:lnTo>
                  <a:lnTo>
                    <a:pt x="5796842" y="1605698"/>
                  </a:lnTo>
                  <a:lnTo>
                    <a:pt x="0" y="1605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4013117" y="150874"/>
              <a:ext cx="2396163" cy="1605698"/>
            </a:xfrm>
            <a:custGeom>
              <a:avLst/>
              <a:gdLst/>
              <a:ahLst/>
              <a:cxnLst/>
              <a:rect l="l" t="t" r="r" b="b"/>
              <a:pathLst>
                <a:path w="2396163" h="1605698">
                  <a:moveTo>
                    <a:pt x="0" y="0"/>
                  </a:moveTo>
                  <a:lnTo>
                    <a:pt x="2396163" y="0"/>
                  </a:lnTo>
                  <a:lnTo>
                    <a:pt x="2396163" y="1605698"/>
                  </a:lnTo>
                  <a:lnTo>
                    <a:pt x="0" y="16056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24186" b="-25042"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12815722" y="90445"/>
              <a:ext cx="1928172" cy="1817001"/>
            </a:xfrm>
            <a:custGeom>
              <a:avLst/>
              <a:gdLst/>
              <a:ahLst/>
              <a:cxnLst/>
              <a:rect l="l" t="t" r="r" b="b"/>
              <a:pathLst>
                <a:path w="1928172" h="1817001">
                  <a:moveTo>
                    <a:pt x="0" y="0"/>
                  </a:moveTo>
                  <a:lnTo>
                    <a:pt x="1928173" y="0"/>
                  </a:lnTo>
                  <a:lnTo>
                    <a:pt x="1928173" y="1817001"/>
                  </a:lnTo>
                  <a:lnTo>
                    <a:pt x="0" y="1817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7520" t="-23511" r="-17122" b="-19368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15048695" y="90445"/>
              <a:ext cx="3280844" cy="1764151"/>
            </a:xfrm>
            <a:custGeom>
              <a:avLst/>
              <a:gdLst/>
              <a:ahLst/>
              <a:cxnLst/>
              <a:rect l="l" t="t" r="r" b="b"/>
              <a:pathLst>
                <a:path w="3280844" h="1764151">
                  <a:moveTo>
                    <a:pt x="0" y="0"/>
                  </a:moveTo>
                  <a:lnTo>
                    <a:pt x="3280844" y="0"/>
                  </a:lnTo>
                  <a:lnTo>
                    <a:pt x="3280844" y="1764151"/>
                  </a:lnTo>
                  <a:lnTo>
                    <a:pt x="0" y="17641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35076" b="-50896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8634339" y="0"/>
              <a:ext cx="3772237" cy="1907446"/>
            </a:xfrm>
            <a:custGeom>
              <a:avLst/>
              <a:gdLst/>
              <a:ahLst/>
              <a:cxnLst/>
              <a:rect l="l" t="t" r="r" b="b"/>
              <a:pathLst>
                <a:path w="3772237" h="1907446">
                  <a:moveTo>
                    <a:pt x="0" y="0"/>
                  </a:moveTo>
                  <a:lnTo>
                    <a:pt x="3772237" y="0"/>
                  </a:lnTo>
                  <a:lnTo>
                    <a:pt x="3772237" y="1907446"/>
                  </a:lnTo>
                  <a:lnTo>
                    <a:pt x="0" y="1907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45119" b="-52644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2743480" y="3724644"/>
            <a:ext cx="12801040" cy="1842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887"/>
              </a:lnSpc>
            </a:pPr>
            <a:r>
              <a:rPr lang="en-US" sz="10634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COREVIA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25815" y="5517667"/>
            <a:ext cx="10571185" cy="1089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 spc="315" dirty="0">
                <a:solidFill>
                  <a:srgbClr val="002B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VELLORE INSTITUTE OF TECHNOLOGY,VELLORE</a:t>
            </a:r>
          </a:p>
          <a:p>
            <a:pPr algn="ctr">
              <a:lnSpc>
                <a:spcPts val="2940"/>
              </a:lnSpc>
            </a:pPr>
            <a:r>
              <a:rPr lang="en-US" sz="2100" b="1" spc="315" dirty="0">
                <a:solidFill>
                  <a:srgbClr val="002B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INOHAC26000127</a:t>
            </a:r>
          </a:p>
          <a:p>
            <a:pPr algn="ctr">
              <a:lnSpc>
                <a:spcPts val="2940"/>
              </a:lnSpc>
            </a:pPr>
            <a:r>
              <a:rPr lang="en-US" sz="2100" b="1" spc="315" dirty="0">
                <a:solidFill>
                  <a:srgbClr val="002B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HACK 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2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flipH="1">
            <a:off x="10273278" y="5039692"/>
            <a:ext cx="8014722" cy="5247308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976" b="-13372"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93A86-DFA2-78F8-4735-29029CA6711B}"/>
              </a:ext>
            </a:extLst>
          </p:cNvPr>
          <p:cNvSpPr txBox="1"/>
          <p:nvPr/>
        </p:nvSpPr>
        <p:spPr>
          <a:xfrm>
            <a:off x="838200" y="876300"/>
            <a:ext cx="17145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Solar Panel Efficiency optimizer –AI Powered Smart Monitoring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86CF96-D9CA-6ED2-F230-0DCE29F90B94}"/>
              </a:ext>
            </a:extLst>
          </p:cNvPr>
          <p:cNvSpPr txBox="1"/>
          <p:nvPr/>
        </p:nvSpPr>
        <p:spPr>
          <a:xfrm>
            <a:off x="838200" y="3010956"/>
            <a:ext cx="12877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>
                <a:solidFill>
                  <a:srgbClr val="002B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 CODE:-  PS13</a:t>
            </a:r>
          </a:p>
          <a:p>
            <a:r>
              <a:rPr lang="en-US" sz="2400" b="1" spc="300" dirty="0">
                <a:solidFill>
                  <a:srgbClr val="002B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TRACK:- ARTIFICIAL INTELLIGENCE/MACHINE LEARNING (AIML</a:t>
            </a:r>
            <a:r>
              <a:rPr lang="en-US" sz="2400" b="1" spc="374" dirty="0">
                <a:solidFill>
                  <a:srgbClr val="002B5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</a:t>
            </a:r>
          </a:p>
          <a:p>
            <a:endParaRPr lang="en-IN" sz="2400" dirty="0">
              <a:latin typeface="Montserrat Bold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042108-B2F4-0FA1-3FE1-05DC46CE0E6A}"/>
              </a:ext>
            </a:extLst>
          </p:cNvPr>
          <p:cNvSpPr txBox="1"/>
          <p:nvPr/>
        </p:nvSpPr>
        <p:spPr>
          <a:xfrm>
            <a:off x="838200" y="4089112"/>
            <a:ext cx="220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Monda" panose="020B0604020202020204" charset="0"/>
              </a:rPr>
              <a:t>Problem</a:t>
            </a:r>
            <a:r>
              <a:rPr lang="en-US" sz="3200" b="1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3E2C73-48E5-1CFE-582A-84C3A30518AB}"/>
              </a:ext>
            </a:extLst>
          </p:cNvPr>
          <p:cNvSpPr txBox="1"/>
          <p:nvPr/>
        </p:nvSpPr>
        <p:spPr>
          <a:xfrm>
            <a:off x="1943100" y="4762636"/>
            <a:ext cx="4914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da" panose="020B0604020202020204" charset="0"/>
              </a:rPr>
              <a:t>Solar plants lose efficiency due to dust, weather, and delayed maintenance</a:t>
            </a:r>
            <a:endParaRPr lang="en-IN" sz="2800" dirty="0">
              <a:latin typeface="Monda" panose="020B0604020202020204" charset="0"/>
            </a:endParaRPr>
          </a:p>
          <a:p>
            <a:endParaRPr lang="en-IN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5147F7-6A02-E5DE-1674-2BC09CFFC5BD}"/>
              </a:ext>
            </a:extLst>
          </p:cNvPr>
          <p:cNvSpPr txBox="1"/>
          <p:nvPr/>
        </p:nvSpPr>
        <p:spPr>
          <a:xfrm>
            <a:off x="7696200" y="4762636"/>
            <a:ext cx="3429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da" panose="020B0604020202020204" charset="0"/>
              </a:rPr>
              <a:t>Manual inspection is costly and unreliable in large or remote farms</a:t>
            </a:r>
          </a:p>
          <a:p>
            <a:endParaRPr lang="en-IN" sz="2800" dirty="0">
              <a:latin typeface="Monda" panose="020B0604020202020204" charset="0"/>
            </a:endParaRPr>
          </a:p>
          <a:p>
            <a:endParaRPr lang="en-IN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0A3D7A-50BF-CC96-48E0-C4E4F35CD8E0}"/>
              </a:ext>
            </a:extLst>
          </p:cNvPr>
          <p:cNvSpPr txBox="1"/>
          <p:nvPr/>
        </p:nvSpPr>
        <p:spPr>
          <a:xfrm>
            <a:off x="12496800" y="4736888"/>
            <a:ext cx="38481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da" panose="020B0604020202020204" charset="0"/>
              </a:rPr>
              <a:t>Most systems depend on continuous internet and expensive hardware</a:t>
            </a:r>
            <a:endParaRPr lang="en-IN" sz="2800" dirty="0">
              <a:latin typeface="Monda" panose="020B0604020202020204" charset="0"/>
            </a:endParaRPr>
          </a:p>
          <a:p>
            <a:endParaRPr lang="en-IN" sz="2800" dirty="0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80C3F158-5AF2-A630-890E-ACEFB809907A}"/>
              </a:ext>
            </a:extLst>
          </p:cNvPr>
          <p:cNvSpPr/>
          <p:nvPr/>
        </p:nvSpPr>
        <p:spPr>
          <a:xfrm>
            <a:off x="1120942" y="4953375"/>
            <a:ext cx="549010" cy="445649"/>
          </a:xfrm>
          <a:custGeom>
            <a:avLst/>
            <a:gdLst/>
            <a:ahLst/>
            <a:cxnLst/>
            <a:rect l="l" t="t" r="r" b="b"/>
            <a:pathLst>
              <a:path w="980313" h="801406">
                <a:moveTo>
                  <a:pt x="0" y="0"/>
                </a:moveTo>
                <a:lnTo>
                  <a:pt x="980313" y="0"/>
                </a:lnTo>
                <a:lnTo>
                  <a:pt x="980313" y="801405"/>
                </a:lnTo>
                <a:lnTo>
                  <a:pt x="0" y="8014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532B9B11-531B-6FB1-EE19-92E3E4C9889B}"/>
              </a:ext>
            </a:extLst>
          </p:cNvPr>
          <p:cNvSpPr/>
          <p:nvPr/>
        </p:nvSpPr>
        <p:spPr>
          <a:xfrm>
            <a:off x="7179373" y="4793891"/>
            <a:ext cx="549010" cy="445649"/>
          </a:xfrm>
          <a:custGeom>
            <a:avLst/>
            <a:gdLst/>
            <a:ahLst/>
            <a:cxnLst/>
            <a:rect l="l" t="t" r="r" b="b"/>
            <a:pathLst>
              <a:path w="980313" h="801406">
                <a:moveTo>
                  <a:pt x="0" y="0"/>
                </a:moveTo>
                <a:lnTo>
                  <a:pt x="980313" y="0"/>
                </a:lnTo>
                <a:lnTo>
                  <a:pt x="980313" y="801405"/>
                </a:lnTo>
                <a:lnTo>
                  <a:pt x="0" y="8014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2BE85F6A-E7C8-AE4D-875A-0313D5EF5D85}"/>
              </a:ext>
            </a:extLst>
          </p:cNvPr>
          <p:cNvSpPr/>
          <p:nvPr/>
        </p:nvSpPr>
        <p:spPr>
          <a:xfrm>
            <a:off x="11943230" y="4736888"/>
            <a:ext cx="549010" cy="445649"/>
          </a:xfrm>
          <a:custGeom>
            <a:avLst/>
            <a:gdLst/>
            <a:ahLst/>
            <a:cxnLst/>
            <a:rect l="l" t="t" r="r" b="b"/>
            <a:pathLst>
              <a:path w="980313" h="801406">
                <a:moveTo>
                  <a:pt x="0" y="0"/>
                </a:moveTo>
                <a:lnTo>
                  <a:pt x="980313" y="0"/>
                </a:lnTo>
                <a:lnTo>
                  <a:pt x="980313" y="801405"/>
                </a:lnTo>
                <a:lnTo>
                  <a:pt x="0" y="8014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F598F1-A32F-402F-7864-F8844201F9BB}"/>
              </a:ext>
            </a:extLst>
          </p:cNvPr>
          <p:cNvSpPr txBox="1"/>
          <p:nvPr/>
        </p:nvSpPr>
        <p:spPr>
          <a:xfrm>
            <a:off x="1120942" y="6450451"/>
            <a:ext cx="3429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Monda" panose="020B0604020202020204" charset="0"/>
              </a:rPr>
              <a:t>Gap Identified:</a:t>
            </a:r>
            <a:endParaRPr lang="en-IN" sz="3200" b="1" dirty="0">
              <a:latin typeface="Monda" panose="020B0604020202020204" charset="0"/>
            </a:endParaRPr>
          </a:p>
          <a:p>
            <a:endParaRPr lang="en-IN" sz="3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21D65F-8C77-4B11-0203-89664C268BB9}"/>
              </a:ext>
            </a:extLst>
          </p:cNvPr>
          <p:cNvSpPr txBox="1"/>
          <p:nvPr/>
        </p:nvSpPr>
        <p:spPr>
          <a:xfrm>
            <a:off x="2133600" y="7077643"/>
            <a:ext cx="12039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da" panose="020B0604020202020204" charset="0"/>
              </a:rPr>
              <a:t>Lack of a </a:t>
            </a:r>
            <a:r>
              <a:rPr lang="en-US" sz="2800" b="1" dirty="0">
                <a:latin typeface="Monda" panose="020B0604020202020204" charset="0"/>
              </a:rPr>
              <a:t>low-cost, low-internet, intelligent system</a:t>
            </a:r>
            <a:r>
              <a:rPr lang="en-US" sz="2800" dirty="0">
                <a:latin typeface="Monda" panose="020B0604020202020204" charset="0"/>
              </a:rPr>
              <a:t> that can</a:t>
            </a:r>
            <a:endParaRPr lang="en-IN" sz="2800" dirty="0">
              <a:latin typeface="Monda" panose="020B0604020202020204" charset="0"/>
            </a:endParaRPr>
          </a:p>
          <a:p>
            <a:endParaRPr lang="en-IN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86160B-5150-317E-19C5-E8ED0D85EC23}"/>
              </a:ext>
            </a:extLst>
          </p:cNvPr>
          <p:cNvSpPr txBox="1"/>
          <p:nvPr/>
        </p:nvSpPr>
        <p:spPr>
          <a:xfrm>
            <a:off x="3048000" y="8031750"/>
            <a:ext cx="3429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da" panose="020B0604020202020204" charset="0"/>
              </a:rPr>
              <a:t>Deduct dust and performance </a:t>
            </a:r>
          </a:p>
          <a:p>
            <a:r>
              <a:rPr lang="en-US" sz="2800" dirty="0">
                <a:latin typeface="Monda" panose="020B0604020202020204" charset="0"/>
              </a:rPr>
              <a:t>loss automatically         	</a:t>
            </a:r>
          </a:p>
          <a:p>
            <a:endParaRPr lang="en-IN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E06CD1-459C-323F-3D3A-74377EE60771}"/>
              </a:ext>
            </a:extLst>
          </p:cNvPr>
          <p:cNvSpPr txBox="1"/>
          <p:nvPr/>
        </p:nvSpPr>
        <p:spPr>
          <a:xfrm>
            <a:off x="7696200" y="8059159"/>
            <a:ext cx="2286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da" panose="020B0604020202020204" charset="0"/>
              </a:rPr>
              <a:t>Make smart decision </a:t>
            </a:r>
            <a:endParaRPr lang="en-IN" sz="2800" dirty="0">
              <a:latin typeface="Monda" panose="020B0604020202020204" charset="0"/>
            </a:endParaRPr>
          </a:p>
          <a:p>
            <a:endParaRPr lang="en-IN" sz="2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CA23D6-D9D0-63BE-12B6-7B334ACAB203}"/>
              </a:ext>
            </a:extLst>
          </p:cNvPr>
          <p:cNvSpPr txBox="1"/>
          <p:nvPr/>
        </p:nvSpPr>
        <p:spPr>
          <a:xfrm>
            <a:off x="10820400" y="8267700"/>
            <a:ext cx="3352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da" panose="020B0604020202020204" charset="0"/>
              </a:rPr>
              <a:t>Work in rural area</a:t>
            </a:r>
            <a:endParaRPr lang="en-IN" sz="2800" dirty="0">
              <a:latin typeface="Monda" panose="020B0604020202020204" charset="0"/>
            </a:endParaRPr>
          </a:p>
          <a:p>
            <a:endParaRPr lang="en-IN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flipH="1">
            <a:off x="10273278" y="5039691"/>
            <a:ext cx="8014722" cy="5247309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976" b="-1337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01046" y="266884"/>
            <a:ext cx="16658254" cy="2786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48"/>
              </a:lnSpc>
            </a:pPr>
            <a:r>
              <a:rPr lang="en-US" sz="8034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PROPOSED SOLUTION &amp; WORKING</a:t>
            </a:r>
          </a:p>
        </p:txBody>
      </p:sp>
      <p:sp>
        <p:nvSpPr>
          <p:cNvPr id="7" name="Freeform 7"/>
          <p:cNvSpPr/>
          <p:nvPr/>
        </p:nvSpPr>
        <p:spPr>
          <a:xfrm>
            <a:off x="905846" y="3467100"/>
            <a:ext cx="846754" cy="662478"/>
          </a:xfrm>
          <a:custGeom>
            <a:avLst/>
            <a:gdLst/>
            <a:ahLst/>
            <a:cxnLst/>
            <a:rect l="l" t="t" r="r" b="b"/>
            <a:pathLst>
              <a:path w="980313" h="801406">
                <a:moveTo>
                  <a:pt x="0" y="0"/>
                </a:moveTo>
                <a:lnTo>
                  <a:pt x="980313" y="0"/>
                </a:lnTo>
                <a:lnTo>
                  <a:pt x="980313" y="801405"/>
                </a:lnTo>
                <a:lnTo>
                  <a:pt x="0" y="8014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752600" y="4113431"/>
            <a:ext cx="12805526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onda" panose="020B0604020202020204" charset="0"/>
              </a:rPr>
              <a:t>An </a:t>
            </a:r>
            <a:r>
              <a:rPr lang="en-US" sz="2800" b="1" dirty="0">
                <a:latin typeface="Monda" panose="020B0604020202020204" charset="0"/>
              </a:rPr>
              <a:t>Edge AI-powered solar monitoring system</a:t>
            </a:r>
            <a:r>
              <a:rPr lang="en-US" sz="2800" dirty="0">
                <a:latin typeface="Monda" panose="020B0604020202020204" charset="0"/>
              </a:rPr>
              <a:t> that combines: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Monda" panose="020B0604020202020204" charset="0"/>
              </a:rPr>
              <a:t>Numerical ML</a:t>
            </a:r>
            <a:r>
              <a:rPr lang="en-US" sz="2800" dirty="0">
                <a:latin typeface="Monda" panose="020B0604020202020204" charset="0"/>
              </a:rPr>
              <a:t> for expected power prediction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Monda" panose="020B0604020202020204" charset="0"/>
              </a:rPr>
              <a:t>Vision AI</a:t>
            </a:r>
            <a:r>
              <a:rPr lang="en-US" sz="2800" dirty="0">
                <a:latin typeface="Monda" panose="020B0604020202020204" charset="0"/>
              </a:rPr>
              <a:t> for dust classification using daily panel images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Monda" panose="020B0604020202020204" charset="0"/>
              </a:rPr>
              <a:t>Weather intelligence</a:t>
            </a:r>
            <a:r>
              <a:rPr lang="en-US" sz="2800" dirty="0">
                <a:latin typeface="Monda" panose="020B0604020202020204" charset="0"/>
              </a:rPr>
              <a:t> for rain-aware maintenance decisions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onda" panose="020B0604020202020204" charset="0"/>
              </a:rPr>
              <a:t>A </a:t>
            </a:r>
            <a:r>
              <a:rPr lang="en-US" sz="2800" b="1" dirty="0">
                <a:latin typeface="Monda" panose="020B0604020202020204" charset="0"/>
              </a:rPr>
              <a:t>mobile-friendly dashboard</a:t>
            </a:r>
            <a:r>
              <a:rPr lang="en-US" sz="2800" dirty="0">
                <a:latin typeface="Monda" panose="020B0604020202020204" charset="0"/>
              </a:rPr>
              <a:t> for real-time remote monitoring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4DD286-FE8C-0FD9-2C9D-11CEC129690C}"/>
              </a:ext>
            </a:extLst>
          </p:cNvPr>
          <p:cNvSpPr txBox="1"/>
          <p:nvPr/>
        </p:nvSpPr>
        <p:spPr>
          <a:xfrm>
            <a:off x="1752600" y="3467100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Monda" panose="020B0604020202020204" charset="0"/>
              </a:rPr>
              <a:t>Problem</a:t>
            </a:r>
            <a:endParaRPr lang="en-IN" sz="3600" b="1" dirty="0">
              <a:latin typeface="Monda" panose="020B0604020202020204" charset="0"/>
            </a:endParaRPr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C37F8C31-8326-5398-D56E-3FE288AC2D6D}"/>
              </a:ext>
            </a:extLst>
          </p:cNvPr>
          <p:cNvSpPr/>
          <p:nvPr/>
        </p:nvSpPr>
        <p:spPr>
          <a:xfrm>
            <a:off x="905846" y="6342894"/>
            <a:ext cx="846754" cy="662478"/>
          </a:xfrm>
          <a:custGeom>
            <a:avLst/>
            <a:gdLst/>
            <a:ahLst/>
            <a:cxnLst/>
            <a:rect l="l" t="t" r="r" b="b"/>
            <a:pathLst>
              <a:path w="980313" h="801406">
                <a:moveTo>
                  <a:pt x="0" y="0"/>
                </a:moveTo>
                <a:lnTo>
                  <a:pt x="980313" y="0"/>
                </a:lnTo>
                <a:lnTo>
                  <a:pt x="980313" y="801405"/>
                </a:lnTo>
                <a:lnTo>
                  <a:pt x="0" y="8014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49971A-BDBE-27FE-8B13-DE30BCC4BD50}"/>
              </a:ext>
            </a:extLst>
          </p:cNvPr>
          <p:cNvSpPr txBox="1"/>
          <p:nvPr/>
        </p:nvSpPr>
        <p:spPr>
          <a:xfrm>
            <a:off x="2133600" y="6420597"/>
            <a:ext cx="335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Monda" panose="020B0604020202020204" charset="0"/>
              </a:rPr>
              <a:t>Gaps</a:t>
            </a:r>
            <a:endParaRPr lang="en-IN" sz="3200" b="1" dirty="0">
              <a:latin typeface="Monda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BBC849-B3D7-EC4E-E596-131C4DC9DE04}"/>
              </a:ext>
            </a:extLst>
          </p:cNvPr>
          <p:cNvSpPr txBox="1"/>
          <p:nvPr/>
        </p:nvSpPr>
        <p:spPr>
          <a:xfrm>
            <a:off x="1905000" y="7277100"/>
            <a:ext cx="11353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da" panose="020B0604020202020204" charset="0"/>
              </a:rPr>
              <a:t>Enable Smart, </a:t>
            </a:r>
            <a:r>
              <a:rPr lang="en-US" sz="2800" b="1" dirty="0">
                <a:latin typeface="Monda" panose="020B0604020202020204" charset="0"/>
              </a:rPr>
              <a:t>Low-cost</a:t>
            </a:r>
            <a:r>
              <a:rPr lang="en-US" sz="2800" dirty="0">
                <a:latin typeface="Monda" panose="020B0604020202020204" charset="0"/>
              </a:rPr>
              <a:t>, And </a:t>
            </a:r>
            <a:r>
              <a:rPr lang="en-US" sz="2800" b="1" dirty="0">
                <a:latin typeface="Monda" panose="020B0604020202020204" charset="0"/>
              </a:rPr>
              <a:t>Scalable Solar Plant Maintenance </a:t>
            </a:r>
            <a:r>
              <a:rPr lang="en-US" sz="2800" dirty="0">
                <a:latin typeface="Monda" panose="020B0604020202020204" charset="0"/>
              </a:rPr>
              <a:t>In Low-connectivity Areas</a:t>
            </a:r>
            <a:endParaRPr lang="en-IN" sz="2800" dirty="0">
              <a:latin typeface="Monda" panose="020B06040202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585FA-BAA0-DD4F-8162-AA45A3B5F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2D7371D3-49EF-A8F4-083A-01D76BD6E80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141604B-8960-5ABF-FF13-31E2FB47F0A6}"/>
              </a:ext>
            </a:extLst>
          </p:cNvPr>
          <p:cNvSpPr/>
          <p:nvPr/>
        </p:nvSpPr>
        <p:spPr>
          <a:xfrm flipH="1">
            <a:off x="10273278" y="5039691"/>
            <a:ext cx="8014722" cy="5247309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976" b="-13371"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18FA72D-2819-5C54-8774-24482CCAD001}"/>
              </a:ext>
            </a:extLst>
          </p:cNvPr>
          <p:cNvSpPr txBox="1"/>
          <p:nvPr/>
        </p:nvSpPr>
        <p:spPr>
          <a:xfrm>
            <a:off x="601046" y="266884"/>
            <a:ext cx="16658254" cy="1354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48"/>
              </a:lnSpc>
            </a:pPr>
            <a:r>
              <a:rPr lang="en-US" sz="7200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PROPOSED SOLUTION &amp; WORKING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158FEE-C63A-877F-B655-794C8D8922E2}"/>
              </a:ext>
            </a:extLst>
          </p:cNvPr>
          <p:cNvSpPr txBox="1"/>
          <p:nvPr/>
        </p:nvSpPr>
        <p:spPr>
          <a:xfrm>
            <a:off x="1371600" y="2031615"/>
            <a:ext cx="14097000" cy="9694962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IN" sz="2800" dirty="0">
                <a:latin typeface="Monda" panose="020B0604020202020204" charset="0"/>
              </a:rPr>
              <a:t>1. </a:t>
            </a:r>
            <a:r>
              <a:rPr lang="en-IN" sz="2800" b="1" dirty="0">
                <a:latin typeface="Monda" panose="020B0604020202020204" charset="0"/>
              </a:rPr>
              <a:t>Edge Data Acquisition</a:t>
            </a:r>
          </a:p>
          <a:p>
            <a:endParaRPr lang="en-IN" sz="2400" dirty="0">
              <a:latin typeface="Monda" panose="020B0604020202020204" charset="0"/>
            </a:endParaRPr>
          </a:p>
          <a:p>
            <a:r>
              <a:rPr lang="en-IN" sz="2400" dirty="0">
                <a:latin typeface="Monda" panose="020B0604020202020204" charset="0"/>
              </a:rPr>
              <a:t>• Sensors capture irradiance, temperature, and         power output</a:t>
            </a:r>
          </a:p>
          <a:p>
            <a:r>
              <a:rPr lang="en-IN" sz="2400" dirty="0">
                <a:latin typeface="Monda" panose="020B0604020202020204" charset="0"/>
              </a:rPr>
              <a:t>• Camera captures panel images (3 per day)</a:t>
            </a:r>
          </a:p>
          <a:p>
            <a:endParaRPr lang="en-IN" sz="2800" b="1" dirty="0">
              <a:latin typeface="Monda" panose="020B0604020202020204" charset="0"/>
            </a:endParaRPr>
          </a:p>
          <a:p>
            <a:r>
              <a:rPr lang="en-IN" sz="2800" b="1" dirty="0">
                <a:latin typeface="Monda" panose="020B0604020202020204" charset="0"/>
              </a:rPr>
              <a:t>2. Parallel Intelligence Engines</a:t>
            </a:r>
          </a:p>
          <a:p>
            <a:endParaRPr lang="en-IN" sz="2400" dirty="0">
              <a:latin typeface="Monda" panose="020B0604020202020204" charset="0"/>
            </a:endParaRPr>
          </a:p>
          <a:p>
            <a:r>
              <a:rPr lang="en-IN" sz="2400" dirty="0">
                <a:latin typeface="Monda" panose="020B0604020202020204" charset="0"/>
              </a:rPr>
              <a:t>Numerical ML Engine</a:t>
            </a:r>
          </a:p>
          <a:p>
            <a:r>
              <a:rPr lang="en-IN" sz="2400" dirty="0">
                <a:latin typeface="Monda" panose="020B0604020202020204" charset="0"/>
              </a:rPr>
              <a:t>• Predicts expected power output</a:t>
            </a:r>
          </a:p>
          <a:p>
            <a:r>
              <a:rPr lang="en-IN" sz="2400" dirty="0">
                <a:latin typeface="Monda" panose="020B0604020202020204" charset="0"/>
              </a:rPr>
              <a:t>• Computes power loss % and health score</a:t>
            </a:r>
          </a:p>
          <a:p>
            <a:endParaRPr lang="en-IN" sz="2400" dirty="0">
              <a:latin typeface="Monda" panose="020B0604020202020204" charset="0"/>
            </a:endParaRPr>
          </a:p>
          <a:p>
            <a:r>
              <a:rPr lang="en-IN" sz="2400" dirty="0">
                <a:latin typeface="Monda" panose="020B0604020202020204" charset="0"/>
              </a:rPr>
              <a:t>Vision AI Engine</a:t>
            </a:r>
          </a:p>
          <a:p>
            <a:r>
              <a:rPr lang="en-IN" sz="2400" dirty="0">
                <a:latin typeface="Monda" panose="020B0604020202020204" charset="0"/>
              </a:rPr>
              <a:t>• Classifies panel condition:</a:t>
            </a:r>
          </a:p>
          <a:p>
            <a:r>
              <a:rPr lang="en-IN" sz="2400" dirty="0">
                <a:latin typeface="Monda" panose="020B0604020202020204" charset="0"/>
              </a:rPr>
              <a:t> Clean | Dusty | Heavily Dusty</a:t>
            </a:r>
          </a:p>
          <a:p>
            <a:endParaRPr lang="en-IN" sz="2400" dirty="0">
              <a:latin typeface="Monda" panose="020B0604020202020204" charset="0"/>
            </a:endParaRPr>
          </a:p>
          <a:p>
            <a:endParaRPr lang="en-IN" sz="2400" dirty="0">
              <a:latin typeface="Monda" panose="020B0604020202020204" charset="0"/>
            </a:endParaRPr>
          </a:p>
          <a:p>
            <a:endParaRPr lang="en-IN" sz="2400" dirty="0">
              <a:latin typeface="Monda" panose="020B0604020202020204" charset="0"/>
            </a:endParaRPr>
          </a:p>
          <a:p>
            <a:endParaRPr lang="en-IN" sz="2400" dirty="0">
              <a:latin typeface="Monda" panose="020B0604020202020204" charset="0"/>
            </a:endParaRPr>
          </a:p>
          <a:p>
            <a:endParaRPr lang="en-IN" sz="2400" dirty="0">
              <a:latin typeface="Monda" panose="020B0604020202020204" charset="0"/>
            </a:endParaRPr>
          </a:p>
          <a:p>
            <a:endParaRPr lang="en-IN" sz="2400" dirty="0">
              <a:latin typeface="Monda" panose="020B0604020202020204" charset="0"/>
            </a:endParaRPr>
          </a:p>
          <a:p>
            <a:endParaRPr lang="en-IN" sz="2400" dirty="0">
              <a:latin typeface="Monda" panose="020B0604020202020204" charset="0"/>
            </a:endParaRPr>
          </a:p>
          <a:p>
            <a:endParaRPr lang="en-IN" sz="2400" dirty="0">
              <a:latin typeface="Monda" panose="020B0604020202020204" charset="0"/>
            </a:endParaRPr>
          </a:p>
          <a:p>
            <a:endParaRPr lang="en-IN" sz="2400" dirty="0">
              <a:latin typeface="Monda" panose="020B0604020202020204" charset="0"/>
            </a:endParaRPr>
          </a:p>
          <a:p>
            <a:endParaRPr lang="en-IN" sz="2400" dirty="0">
              <a:latin typeface="Monda" panose="020B0604020202020204" charset="0"/>
            </a:endParaRPr>
          </a:p>
          <a:p>
            <a:endParaRPr lang="en-IN" sz="2400" dirty="0">
              <a:latin typeface="Monda" panose="020B0604020202020204" charset="0"/>
            </a:endParaRPr>
          </a:p>
          <a:p>
            <a:r>
              <a:rPr lang="en-IN" sz="3600" b="1" dirty="0">
                <a:latin typeface="Monda" panose="020B0604020202020204" charset="0"/>
              </a:rPr>
              <a:t>3</a:t>
            </a:r>
            <a:r>
              <a:rPr lang="en-IN" sz="2400" b="1" dirty="0">
                <a:latin typeface="Monda" panose="020B0604020202020204" charset="0"/>
              </a:rPr>
              <a:t>. </a:t>
            </a:r>
            <a:r>
              <a:rPr lang="en-IN" sz="3200" b="1" dirty="0">
                <a:latin typeface="Monda" panose="020B0604020202020204" charset="0"/>
              </a:rPr>
              <a:t>Decision Intelligence</a:t>
            </a:r>
          </a:p>
          <a:p>
            <a:endParaRPr lang="en-IN" sz="2400" dirty="0">
              <a:latin typeface="Monda" panose="020B0604020202020204" charset="0"/>
            </a:endParaRPr>
          </a:p>
          <a:p>
            <a:r>
              <a:rPr lang="en-IN" sz="2400" dirty="0">
                <a:latin typeface="Monda" panose="020B0604020202020204" charset="0"/>
              </a:rPr>
              <a:t>• Weather data integrated via Open-</a:t>
            </a:r>
            <a:r>
              <a:rPr lang="en-IN" sz="2400" dirty="0" err="1">
                <a:latin typeface="Monda" panose="020B0604020202020204" charset="0"/>
              </a:rPr>
              <a:t>Meteo</a:t>
            </a:r>
            <a:r>
              <a:rPr lang="en-IN" sz="2400" dirty="0">
                <a:latin typeface="Monda" panose="020B0604020202020204" charset="0"/>
              </a:rPr>
              <a:t> API</a:t>
            </a:r>
          </a:p>
          <a:p>
            <a:r>
              <a:rPr lang="en-IN" sz="2400" dirty="0">
                <a:latin typeface="Monda" panose="020B0604020202020204" charset="0"/>
              </a:rPr>
              <a:t>• Decision Engine fuses ML, Vision, and Weather inputs</a:t>
            </a:r>
          </a:p>
          <a:p>
            <a:r>
              <a:rPr lang="en-IN" sz="2400" dirty="0">
                <a:latin typeface="Monda" panose="020B0604020202020204" charset="0"/>
              </a:rPr>
              <a:t>• Final action generated:</a:t>
            </a:r>
          </a:p>
          <a:p>
            <a:r>
              <a:rPr lang="en-IN" sz="2400" dirty="0">
                <a:latin typeface="Monda" panose="020B0604020202020204" charset="0"/>
              </a:rPr>
              <a:t> Clean Now | Postpone (Rain Expected) | System Healthy</a:t>
            </a:r>
          </a:p>
          <a:p>
            <a:endParaRPr lang="en-IN" sz="2400" dirty="0">
              <a:latin typeface="Monda" panose="020B0604020202020204" charset="0"/>
            </a:endParaRPr>
          </a:p>
          <a:p>
            <a:r>
              <a:rPr lang="en-IN" sz="3200" dirty="0">
                <a:latin typeface="Monda" panose="020B0604020202020204" charset="0"/>
              </a:rPr>
              <a:t>4.</a:t>
            </a:r>
            <a:r>
              <a:rPr lang="en-IN" sz="3200" b="1" dirty="0">
                <a:latin typeface="Monda" panose="020B0604020202020204" charset="0"/>
              </a:rPr>
              <a:t> Cloud &amp; Dashboard</a:t>
            </a:r>
          </a:p>
          <a:p>
            <a:endParaRPr lang="en-IN" sz="2400" dirty="0">
              <a:latin typeface="Monda" panose="020B0604020202020204" charset="0"/>
            </a:endParaRPr>
          </a:p>
          <a:p>
            <a:r>
              <a:rPr lang="en-IN" sz="2400" dirty="0">
                <a:latin typeface="Monda" panose="020B0604020202020204" charset="0"/>
              </a:rPr>
              <a:t>• Insights sent via REST API</a:t>
            </a:r>
          </a:p>
          <a:p>
            <a:r>
              <a:rPr lang="en-IN" sz="2400" dirty="0">
                <a:latin typeface="Monda" panose="020B0604020202020204" charset="0"/>
              </a:rPr>
              <a:t>• Real-time status and alerts shown on mobile dashboard</a:t>
            </a:r>
          </a:p>
        </p:txBody>
      </p:sp>
    </p:spTree>
    <p:extLst>
      <p:ext uri="{BB962C8B-B14F-4D97-AF65-F5344CB8AC3E}">
        <p14:creationId xmlns:p14="http://schemas.microsoft.com/office/powerpoint/2010/main" val="682113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9048B-B5D9-3EEE-2C2C-08E87DF20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90367F4-6CFF-E04A-039D-D80A98C940D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67147AF-68B0-AB2C-34A4-4331C1A03A32}"/>
              </a:ext>
            </a:extLst>
          </p:cNvPr>
          <p:cNvSpPr/>
          <p:nvPr/>
        </p:nvSpPr>
        <p:spPr>
          <a:xfrm flipH="1">
            <a:off x="10273278" y="5039692"/>
            <a:ext cx="8014722" cy="5247308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976" b="-13372"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958FDD-C4A0-2551-5460-8FC0865FC718}"/>
              </a:ext>
            </a:extLst>
          </p:cNvPr>
          <p:cNvSpPr txBox="1"/>
          <p:nvPr/>
        </p:nvSpPr>
        <p:spPr>
          <a:xfrm>
            <a:off x="0" y="571500"/>
            <a:ext cx="1828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2">
                    <a:lumMod val="25000"/>
                  </a:schemeClr>
                </a:solidFill>
                <a:latin typeface="Monda" panose="020B0604020202020204" charset="0"/>
              </a:rPr>
              <a:t>Technical workflow</a:t>
            </a:r>
            <a:endParaRPr lang="en-IN" sz="7200" dirty="0">
              <a:solidFill>
                <a:schemeClr val="bg2">
                  <a:lumMod val="25000"/>
                </a:schemeClr>
              </a:solidFill>
              <a:latin typeface="Monda" panose="020B060402020202020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A392D03-C304-81D0-4524-28C477E0C8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106" t="24127" r="25105" b="23896"/>
          <a:stretch>
            <a:fillRect/>
          </a:stretch>
        </p:blipFill>
        <p:spPr>
          <a:xfrm>
            <a:off x="2286000" y="1866900"/>
            <a:ext cx="13106400" cy="769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813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467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 flipH="1">
            <a:off x="10273278" y="5039691"/>
            <a:ext cx="8014722" cy="5247309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357" t="-926" r="381" b="-1244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01046" y="266884"/>
            <a:ext cx="16658254" cy="1367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48"/>
              </a:lnSpc>
            </a:pPr>
            <a:r>
              <a:rPr lang="en-US" sz="8034" b="1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FEATURES &amp; TECH STACK</a:t>
            </a:r>
          </a:p>
        </p:txBody>
      </p:sp>
      <p:sp>
        <p:nvSpPr>
          <p:cNvPr id="7" name="Freeform 7"/>
          <p:cNvSpPr/>
          <p:nvPr/>
        </p:nvSpPr>
        <p:spPr>
          <a:xfrm>
            <a:off x="256819" y="2319019"/>
            <a:ext cx="980313" cy="801406"/>
          </a:xfrm>
          <a:custGeom>
            <a:avLst/>
            <a:gdLst/>
            <a:ahLst/>
            <a:cxnLst/>
            <a:rect l="l" t="t" r="r" b="b"/>
            <a:pathLst>
              <a:path w="980313" h="801406">
                <a:moveTo>
                  <a:pt x="0" y="0"/>
                </a:moveTo>
                <a:lnTo>
                  <a:pt x="980313" y="0"/>
                </a:lnTo>
                <a:lnTo>
                  <a:pt x="980313" y="801405"/>
                </a:lnTo>
                <a:lnTo>
                  <a:pt x="0" y="8014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02577" y="3301609"/>
            <a:ext cx="6648241" cy="4308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dirty="0">
                <a:latin typeface="Monda" panose="020B0604020202020204" charset="0"/>
              </a:rPr>
              <a:t>Expected Power Prediction (ML)</a:t>
            </a:r>
          </a:p>
          <a:p>
            <a:r>
              <a:rPr lang="en-US" sz="2800" dirty="0">
                <a:latin typeface="Monda" panose="020B0604020202020204" charset="0"/>
              </a:rPr>
              <a:t>Power Loss &amp; Health Score Generation</a:t>
            </a:r>
          </a:p>
          <a:p>
            <a:r>
              <a:rPr lang="en-US" sz="2800" dirty="0">
                <a:latin typeface="Monda" panose="020B0604020202020204" charset="0"/>
              </a:rPr>
              <a:t>Vision-Based Dust Classification</a:t>
            </a:r>
          </a:p>
          <a:p>
            <a:r>
              <a:rPr lang="en-US" sz="2800" dirty="0">
                <a:latin typeface="Monda" panose="020B0604020202020204" charset="0"/>
              </a:rPr>
              <a:t>Multi-Model Decision Engine</a:t>
            </a:r>
          </a:p>
          <a:p>
            <a:r>
              <a:rPr lang="en-US" sz="2800" dirty="0">
                <a:latin typeface="Monda" panose="020B0604020202020204" charset="0"/>
              </a:rPr>
              <a:t>Weather-Aware Cleaning Recommendation</a:t>
            </a:r>
          </a:p>
          <a:p>
            <a:r>
              <a:rPr lang="en-US" sz="2800" dirty="0">
                <a:latin typeface="Monda" panose="020B0604020202020204" charset="0"/>
              </a:rPr>
              <a:t>Rain-Based Cleaning Skip</a:t>
            </a:r>
          </a:p>
          <a:p>
            <a:r>
              <a:rPr lang="en-US" sz="2800" dirty="0">
                <a:latin typeface="Monda" panose="020B0604020202020204" charset="0"/>
              </a:rPr>
              <a:t>Daily Energy Forecast</a:t>
            </a:r>
          </a:p>
          <a:p>
            <a:r>
              <a:rPr lang="en-US" sz="2800" dirty="0">
                <a:latin typeface="Monda" panose="020B0604020202020204" charset="0"/>
              </a:rPr>
              <a:t>Mobile-Friendly Dashboard</a:t>
            </a:r>
          </a:p>
          <a:p>
            <a:endParaRPr lang="en-US" sz="2800" dirty="0">
              <a:latin typeface="Monda" panose="020B0604020202020204" charset="0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8782252" y="2165839"/>
            <a:ext cx="980313" cy="801406"/>
          </a:xfrm>
          <a:custGeom>
            <a:avLst/>
            <a:gdLst/>
            <a:ahLst/>
            <a:cxnLst/>
            <a:rect l="l" t="t" r="r" b="b"/>
            <a:pathLst>
              <a:path w="980313" h="801406">
                <a:moveTo>
                  <a:pt x="0" y="0"/>
                </a:moveTo>
                <a:lnTo>
                  <a:pt x="980313" y="0"/>
                </a:lnTo>
                <a:lnTo>
                  <a:pt x="980313" y="801406"/>
                </a:lnTo>
                <a:lnTo>
                  <a:pt x="0" y="8014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827220" y="3086165"/>
            <a:ext cx="7105441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2800" b="1" dirty="0">
                <a:latin typeface="Monda" panose="020B0604020202020204" charset="0"/>
              </a:rPr>
              <a:t>1.Edge AI &amp;&amp; </a:t>
            </a:r>
            <a:r>
              <a:rPr lang="en-US" sz="2800" b="1" dirty="0">
                <a:latin typeface="Monda" panose="020B0604020202020204" charset="0"/>
              </a:rPr>
              <a:t>Vision AI</a:t>
            </a:r>
            <a:r>
              <a:rPr lang="en-IN" sz="2800" b="1" dirty="0">
                <a:latin typeface="Monda" panose="020B0604020202020204" charset="0"/>
              </a:rPr>
              <a:t>:</a:t>
            </a:r>
            <a:endParaRPr lang="en-IN" sz="2800" dirty="0">
              <a:latin typeface="Monda" panose="020B0604020202020204" charset="0"/>
            </a:endParaRPr>
          </a:p>
          <a:p>
            <a:r>
              <a:rPr lang="en-IN" sz="2800" dirty="0">
                <a:latin typeface="Monda" panose="020B0604020202020204" charset="0"/>
              </a:rPr>
              <a:t>     Python, Scikit-learn, TensorFlow Lite</a:t>
            </a:r>
          </a:p>
          <a:p>
            <a:r>
              <a:rPr lang="en-IN" sz="2800" b="1" dirty="0">
                <a:latin typeface="Monda" panose="020B0604020202020204" charset="0"/>
              </a:rPr>
              <a:t>2.Backend:</a:t>
            </a:r>
            <a:endParaRPr lang="en-IN" sz="2800" dirty="0">
              <a:latin typeface="Monda" panose="020B0604020202020204" charset="0"/>
            </a:endParaRPr>
          </a:p>
          <a:p>
            <a:r>
              <a:rPr lang="en-IN" sz="2800" dirty="0">
                <a:latin typeface="Monda" panose="020B0604020202020204" charset="0"/>
              </a:rPr>
              <a:t>     Node.js, Express (REST API)</a:t>
            </a:r>
          </a:p>
          <a:p>
            <a:r>
              <a:rPr lang="en-IN" sz="2800" b="1" dirty="0">
                <a:latin typeface="Monda" panose="020B0604020202020204" charset="0"/>
              </a:rPr>
              <a:t>3.Frontend:</a:t>
            </a:r>
            <a:endParaRPr lang="en-IN" sz="2800" dirty="0">
              <a:latin typeface="Monda" panose="020B0604020202020204" charset="0"/>
            </a:endParaRPr>
          </a:p>
          <a:p>
            <a:r>
              <a:rPr lang="en-IN" sz="2800" dirty="0">
                <a:latin typeface="Monda" panose="020B0604020202020204" charset="0"/>
              </a:rPr>
              <a:t>     </a:t>
            </a:r>
            <a:r>
              <a:rPr lang="en-IN" sz="2800" dirty="0" err="1">
                <a:latin typeface="Monda" panose="020B0604020202020204" charset="0"/>
              </a:rPr>
              <a:t>Streamlit</a:t>
            </a:r>
            <a:r>
              <a:rPr lang="en-IN" sz="2800" dirty="0">
                <a:latin typeface="Monda" panose="020B0604020202020204" charset="0"/>
              </a:rPr>
              <a:t> (Mobile Web UI)</a:t>
            </a:r>
          </a:p>
          <a:p>
            <a:r>
              <a:rPr lang="en-IN" sz="2800" b="1" dirty="0">
                <a:latin typeface="Monda" panose="020B0604020202020204" charset="0"/>
              </a:rPr>
              <a:t>3.Weather API:</a:t>
            </a:r>
            <a:endParaRPr lang="en-IN" sz="2800" dirty="0">
              <a:latin typeface="Monda" panose="020B0604020202020204" charset="0"/>
            </a:endParaRPr>
          </a:p>
          <a:p>
            <a:r>
              <a:rPr lang="en-IN" sz="2800" dirty="0">
                <a:latin typeface="Monda" panose="020B0604020202020204" charset="0"/>
              </a:rPr>
              <a:t>     Open-</a:t>
            </a:r>
            <a:r>
              <a:rPr lang="en-IN" sz="2800" dirty="0" err="1">
                <a:latin typeface="Monda" panose="020B0604020202020204" charset="0"/>
              </a:rPr>
              <a:t>Meteo</a:t>
            </a:r>
            <a:endParaRPr lang="en-IN" sz="2800" dirty="0">
              <a:latin typeface="Monda" panose="020B0604020202020204" charset="0"/>
            </a:endParaRPr>
          </a:p>
          <a:p>
            <a:r>
              <a:rPr lang="en-IN" sz="2800" b="1" dirty="0">
                <a:latin typeface="Monda" panose="020B0604020202020204" charset="0"/>
              </a:rPr>
              <a:t>4.Deployment:</a:t>
            </a:r>
            <a:endParaRPr lang="en-IN" sz="2800" dirty="0">
              <a:latin typeface="Monda" panose="020B0604020202020204" charset="0"/>
            </a:endParaRPr>
          </a:p>
          <a:p>
            <a:r>
              <a:rPr lang="en-IN" sz="2800" dirty="0">
                <a:latin typeface="Monda" panose="020B0604020202020204" charset="0"/>
              </a:rPr>
              <a:t>    Raspberry Pi / Laptop (Edge Simulation)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0D045-A615-C1FA-B908-9240B9ABFF81}"/>
              </a:ext>
            </a:extLst>
          </p:cNvPr>
          <p:cNvSpPr txBox="1"/>
          <p:nvPr/>
        </p:nvSpPr>
        <p:spPr>
          <a:xfrm>
            <a:off x="1402577" y="2437696"/>
            <a:ext cx="2819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>
                    <a:lumMod val="25000"/>
                  </a:schemeClr>
                </a:solidFill>
                <a:latin typeface="Monda" panose="020B0604020202020204" charset="0"/>
              </a:rPr>
              <a:t>Features</a:t>
            </a:r>
            <a:r>
              <a:rPr lang="en-US" sz="3200" dirty="0">
                <a:solidFill>
                  <a:schemeClr val="accent1">
                    <a:lumMod val="50000"/>
                  </a:schemeClr>
                </a:solidFill>
                <a:latin typeface="Monda" panose="020B0604020202020204" charset="0"/>
              </a:rPr>
              <a:t> </a:t>
            </a:r>
            <a:endParaRPr lang="en-IN" sz="3200" dirty="0">
              <a:solidFill>
                <a:schemeClr val="accent1">
                  <a:lumMod val="50000"/>
                </a:schemeClr>
              </a:solidFill>
              <a:latin typeface="Monda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1983A-A628-98CA-A797-22B4A840B20C}"/>
              </a:ext>
            </a:extLst>
          </p:cNvPr>
          <p:cNvSpPr txBox="1"/>
          <p:nvPr/>
        </p:nvSpPr>
        <p:spPr>
          <a:xfrm>
            <a:off x="9827220" y="2364035"/>
            <a:ext cx="2971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2">
                    <a:lumMod val="25000"/>
                  </a:schemeClr>
                </a:solidFill>
                <a:latin typeface="Monda" panose="020B0604020202020204" charset="0"/>
              </a:rPr>
              <a:t>Teck Stack</a:t>
            </a:r>
            <a:endParaRPr lang="en-IN" sz="3200" b="1" dirty="0">
              <a:solidFill>
                <a:schemeClr val="bg2">
                  <a:lumMod val="25000"/>
                </a:schemeClr>
              </a:solidFill>
              <a:latin typeface="Monda" panose="020B06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3074E-3014-AA92-32DD-B47AB5481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5B0283F-D2D2-682C-3B72-E977D06D78B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5410556-00D5-8339-B4E0-5A6878C5601B}"/>
              </a:ext>
            </a:extLst>
          </p:cNvPr>
          <p:cNvSpPr/>
          <p:nvPr/>
        </p:nvSpPr>
        <p:spPr>
          <a:xfrm flipH="1">
            <a:off x="10273278" y="5039691"/>
            <a:ext cx="8014722" cy="5247309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357" t="-926" r="381" b="-12445"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88EFE5D-CB4B-C105-4FC2-3530E25AD901}"/>
              </a:ext>
            </a:extLst>
          </p:cNvPr>
          <p:cNvSpPr txBox="1"/>
          <p:nvPr/>
        </p:nvSpPr>
        <p:spPr>
          <a:xfrm>
            <a:off x="601046" y="266884"/>
            <a:ext cx="16658254" cy="1386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48"/>
              </a:lnSpc>
            </a:pPr>
            <a:r>
              <a:rPr lang="en-US" sz="8034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Novelty and USPs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4977A3F5-A33C-CD35-2A54-31918F5F8736}"/>
              </a:ext>
            </a:extLst>
          </p:cNvPr>
          <p:cNvSpPr/>
          <p:nvPr/>
        </p:nvSpPr>
        <p:spPr>
          <a:xfrm>
            <a:off x="2590800" y="7636444"/>
            <a:ext cx="980313" cy="801406"/>
          </a:xfrm>
          <a:custGeom>
            <a:avLst/>
            <a:gdLst/>
            <a:ahLst/>
            <a:cxnLst/>
            <a:rect l="l" t="t" r="r" b="b"/>
            <a:pathLst>
              <a:path w="980313" h="801406">
                <a:moveTo>
                  <a:pt x="0" y="0"/>
                </a:moveTo>
                <a:lnTo>
                  <a:pt x="980313" y="0"/>
                </a:lnTo>
                <a:lnTo>
                  <a:pt x="980313" y="801405"/>
                </a:lnTo>
                <a:lnTo>
                  <a:pt x="0" y="8014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5D50E80-C361-5AD1-335D-45EBD8CDDFC2}"/>
              </a:ext>
            </a:extLst>
          </p:cNvPr>
          <p:cNvSpPr txBox="1"/>
          <p:nvPr/>
        </p:nvSpPr>
        <p:spPr>
          <a:xfrm>
            <a:off x="1968941" y="2249853"/>
            <a:ext cx="5955860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/>
              <a:t>Novelty:</a:t>
            </a: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Multi-Modal AI combining Numerical ML + Vision AI for unified decisions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True Edge Intelligence with cloud dependency for core lo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Camera-based dust detection without manual inspection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Weather-aware automated maintenance decision engine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Fusion-based intelligence instead of rule-based monitoring</a:t>
            </a: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E3DE5868-DD0A-7C15-4F1F-7973E72AA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48170" y="1920110"/>
            <a:ext cx="6866553" cy="7414390"/>
          </a:xfrm>
          <a:prstGeom prst="flowChartAlternateProcess">
            <a:avLst/>
          </a:prstGeom>
          <a:solidFill>
            <a:schemeClr val="bg2"/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800" b="1" dirty="0"/>
              <a:t>                    </a:t>
            </a:r>
            <a:r>
              <a:rPr lang="en-US" sz="4800" b="1" dirty="0"/>
              <a:t>NOVELTY</a:t>
            </a:r>
          </a:p>
          <a:p>
            <a:endParaRPr lang="en-US" sz="4800" b="1" dirty="0"/>
          </a:p>
          <a:p>
            <a:endParaRPr lang="en-US" sz="48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Monda" panose="020B0604020202020204" charset="0"/>
              </a:rPr>
              <a:t>Multi-Modal AI combining Numerical ML + Vision AI for unified decisions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Monda" panose="020B0604020202020204" charset="0"/>
              </a:rPr>
              <a:t>True Edge Intelligence with no cloud dependency for core logic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Monda" panose="020B0604020202020204" charset="0"/>
              </a:rPr>
              <a:t>Camera-based dust detection without manual inspection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Monda" panose="020B0604020202020204" charset="0"/>
              </a:rPr>
              <a:t>Weather-aware automated maintenance decision engine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>
                <a:latin typeface="Monda" panose="020B0604020202020204" charset="0"/>
              </a:rPr>
              <a:t>Fusion-based intelligence instead of rule-based monitoring</a:t>
            </a:r>
          </a:p>
          <a:p>
            <a:pPr algn="ctr"/>
            <a:endParaRPr lang="en-US" dirty="0"/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4D5DE035-648C-B991-3BA4-9E2F2C7E5654}"/>
              </a:ext>
            </a:extLst>
          </p:cNvPr>
          <p:cNvSpPr/>
          <p:nvPr/>
        </p:nvSpPr>
        <p:spPr>
          <a:xfrm>
            <a:off x="9144000" y="1920110"/>
            <a:ext cx="7410241" cy="7414389"/>
          </a:xfrm>
          <a:prstGeom prst="flowChartAlternateProcess">
            <a:avLst/>
          </a:prstGeom>
          <a:solidFill>
            <a:schemeClr val="bg2"/>
          </a:solidFill>
          <a:ln>
            <a:solidFill>
              <a:schemeClr val="bg2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800" b="1" dirty="0"/>
          </a:p>
          <a:p>
            <a:r>
              <a:rPr lang="en-US" sz="2800" b="1" dirty="0"/>
              <a:t>                          </a:t>
            </a:r>
          </a:p>
          <a:p>
            <a:endParaRPr lang="en-US" sz="2800" b="1" dirty="0"/>
          </a:p>
          <a:p>
            <a:r>
              <a:rPr lang="en-US" sz="2800" b="1" dirty="0"/>
              <a:t>                             </a:t>
            </a:r>
          </a:p>
          <a:p>
            <a:r>
              <a:rPr lang="en-US" sz="2800" b="1" dirty="0"/>
              <a:t>      </a:t>
            </a:r>
            <a:r>
              <a:rPr lang="en-US" sz="4800" b="1" dirty="0"/>
              <a:t>UNIQUE SELLING POINT</a:t>
            </a:r>
            <a:endParaRPr lang="en-US" sz="4000" b="1" dirty="0"/>
          </a:p>
          <a:p>
            <a:endParaRPr lang="en-US" sz="4800" b="1" dirty="0"/>
          </a:p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onda" panose="020B0604020202020204" charset="0"/>
              </a:rPr>
              <a:t>Designed for low-internet and rural environments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onda" panose="020B0604020202020204" charset="0"/>
              </a:rPr>
              <a:t>Low-cost hardware and minimal sensor requirements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onda" panose="020B0604020202020204" charset="0"/>
              </a:rPr>
              <a:t>Scalable architecture for single or multi-plant deployment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onda" panose="020B0604020202020204" charset="0"/>
              </a:rPr>
              <a:t>Explainable AI decisions with clear action reasoning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Monda" panose="020B0604020202020204" charset="0"/>
              </a:rPr>
              <a:t>Mobile-first monitoring for real-time remote access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algn="ctr"/>
            <a:endParaRPr lang="en-US" dirty="0"/>
          </a:p>
        </p:txBody>
      </p:sp>
      <p:pic>
        <p:nvPicPr>
          <p:cNvPr id="9" name="Graphic 8" descr="Brain in head with solid fill">
            <a:extLst>
              <a:ext uri="{FF2B5EF4-FFF2-40B4-BE49-F238E27FC236}">
                <a16:creationId xmlns:a16="http://schemas.microsoft.com/office/drawing/2014/main" id="{B1255A5B-327D-CA15-8F39-2667BA8E8D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67046" y="3209902"/>
            <a:ext cx="914400" cy="914400"/>
          </a:xfrm>
          <a:prstGeom prst="rect">
            <a:avLst/>
          </a:prstGeom>
        </p:spPr>
      </p:pic>
      <p:pic>
        <p:nvPicPr>
          <p:cNvPr id="14" name="Graphic 13" descr="Bullseye with solid fill">
            <a:extLst>
              <a:ext uri="{FF2B5EF4-FFF2-40B4-BE49-F238E27FC236}">
                <a16:creationId xmlns:a16="http://schemas.microsoft.com/office/drawing/2014/main" id="{C1242AB6-7F9E-B510-C840-93DAB8F64A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325559" y="320990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551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987F5-8690-A68D-FE04-02D9A491E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81E29E0-51E1-5289-34E8-A73F828BC1B7}"/>
              </a:ext>
            </a:extLst>
          </p:cNvPr>
          <p:cNvSpPr/>
          <p:nvPr/>
        </p:nvSpPr>
        <p:spPr>
          <a:xfrm>
            <a:off x="11638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A1DEABB-740A-FBBC-8347-C2F1A305048E}"/>
              </a:ext>
            </a:extLst>
          </p:cNvPr>
          <p:cNvSpPr/>
          <p:nvPr/>
        </p:nvSpPr>
        <p:spPr>
          <a:xfrm flipH="1">
            <a:off x="10273278" y="5039691"/>
            <a:ext cx="8014722" cy="5247309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6357" t="-926" r="381" b="-12445"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5070206-8178-F081-3FBF-EEA34655641A}"/>
              </a:ext>
            </a:extLst>
          </p:cNvPr>
          <p:cNvSpPr txBox="1"/>
          <p:nvPr/>
        </p:nvSpPr>
        <p:spPr>
          <a:xfrm>
            <a:off x="7696200" y="266884"/>
            <a:ext cx="9563100" cy="13863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48"/>
              </a:lnSpc>
            </a:pPr>
            <a:r>
              <a:rPr lang="en-US" sz="8034" b="1" dirty="0">
                <a:solidFill>
                  <a:srgbClr val="002B58"/>
                </a:solidFill>
                <a:latin typeface="Monda Bold"/>
                <a:ea typeface="Monda Bold"/>
                <a:cs typeface="Monda Bold"/>
                <a:sym typeface="Monda Bold"/>
              </a:rPr>
              <a:t>SDGs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675D7D4-EF06-0E0F-E615-B5DCC153D087}"/>
              </a:ext>
            </a:extLst>
          </p:cNvPr>
          <p:cNvSpPr txBox="1"/>
          <p:nvPr/>
        </p:nvSpPr>
        <p:spPr>
          <a:xfrm>
            <a:off x="11768433" y="602153"/>
            <a:ext cx="6591301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600" b="1" dirty="0"/>
              <a:t>         	</a:t>
            </a:r>
            <a:endParaRPr lang="en-I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68B669-0D3E-311C-58B2-C6459BAFC7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1995" y="2628901"/>
            <a:ext cx="2826606" cy="28266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B19264-A745-EB0B-043A-F33D0A3510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432" y="2628901"/>
            <a:ext cx="2826606" cy="29121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393913-9B99-EA8A-4121-1CB0726E885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3685" y="2661629"/>
            <a:ext cx="2724748" cy="28914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2609942-743F-1398-A6FB-15A9DFAD244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0" y="2684489"/>
            <a:ext cx="2724748" cy="28914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AE3BA26-7113-848C-9B01-EB52CAEBAAFA}"/>
              </a:ext>
            </a:extLst>
          </p:cNvPr>
          <p:cNvSpPr txBox="1"/>
          <p:nvPr/>
        </p:nvSpPr>
        <p:spPr>
          <a:xfrm>
            <a:off x="1482298" y="6093685"/>
            <a:ext cx="2286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onda" panose="020B0604020202020204" charset="0"/>
              </a:rPr>
              <a:t>Improves solar efficiency and energy output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A467F8-BAA2-5EA6-C2F0-6A02E8F84E77}"/>
              </a:ext>
            </a:extLst>
          </p:cNvPr>
          <p:cNvSpPr txBox="1"/>
          <p:nvPr/>
        </p:nvSpPr>
        <p:spPr>
          <a:xfrm>
            <a:off x="5075432" y="6132600"/>
            <a:ext cx="28266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onda" panose="020B0604020202020204" charset="0"/>
              </a:rPr>
              <a:t>Uses Edge AI for smart renewable infrastructure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D0A18-9381-D515-2425-0ABA140F07CA}"/>
              </a:ext>
            </a:extLst>
          </p:cNvPr>
          <p:cNvSpPr txBox="1"/>
          <p:nvPr/>
        </p:nvSpPr>
        <p:spPr>
          <a:xfrm>
            <a:off x="9144000" y="6132600"/>
            <a:ext cx="3124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onda" panose="020B0604020202020204" charset="0"/>
              </a:rPr>
              <a:t>Supports intelligent energy systems for rural and urban areas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5AB9C8-0A3E-E82C-2006-7C87B25AE3C4}"/>
              </a:ext>
            </a:extLst>
          </p:cNvPr>
          <p:cNvSpPr txBox="1"/>
          <p:nvPr/>
        </p:nvSpPr>
        <p:spPr>
          <a:xfrm>
            <a:off x="13366998" y="6132600"/>
            <a:ext cx="27247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onda" panose="020B0604020202020204" charset="0"/>
              </a:rPr>
              <a:t>Maximizes clean energy generation and reduces carbon footprint</a:t>
            </a:r>
          </a:p>
        </p:txBody>
      </p:sp>
    </p:spTree>
    <p:extLst>
      <p:ext uri="{BB962C8B-B14F-4D97-AF65-F5344CB8AC3E}">
        <p14:creationId xmlns:p14="http://schemas.microsoft.com/office/powerpoint/2010/main" val="1169671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3BF15-2F63-14EE-F0A2-A09DF4508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5BFFBE3-AF82-03F3-5C85-6939AC90D40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77" b="-777"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05FC9B0-E38F-9530-CD44-9A04317EAA25}"/>
              </a:ext>
            </a:extLst>
          </p:cNvPr>
          <p:cNvSpPr/>
          <p:nvPr/>
        </p:nvSpPr>
        <p:spPr>
          <a:xfrm flipH="1">
            <a:off x="10273278" y="5039692"/>
            <a:ext cx="8014722" cy="5247308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9295205" y="0"/>
                </a:moveTo>
                <a:lnTo>
                  <a:pt x="0" y="0"/>
                </a:lnTo>
                <a:lnTo>
                  <a:pt x="0" y="5948932"/>
                </a:lnTo>
                <a:lnTo>
                  <a:pt x="9295205" y="5948932"/>
                </a:lnTo>
                <a:lnTo>
                  <a:pt x="929520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976" b="-1337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F5D4A73-0B05-D71B-3163-FECDAE54ED12}"/>
              </a:ext>
            </a:extLst>
          </p:cNvPr>
          <p:cNvSpPr/>
          <p:nvPr/>
        </p:nvSpPr>
        <p:spPr>
          <a:xfrm flipV="1">
            <a:off x="0" y="-1"/>
            <a:ext cx="8014722" cy="5247307"/>
          </a:xfrm>
          <a:custGeom>
            <a:avLst/>
            <a:gdLst/>
            <a:ahLst/>
            <a:cxnLst/>
            <a:rect l="l" t="t" r="r" b="b"/>
            <a:pathLst>
              <a:path w="9295205" h="5948931">
                <a:moveTo>
                  <a:pt x="0" y="5948932"/>
                </a:moveTo>
                <a:lnTo>
                  <a:pt x="9295205" y="5948932"/>
                </a:lnTo>
                <a:lnTo>
                  <a:pt x="9295205" y="0"/>
                </a:lnTo>
                <a:lnTo>
                  <a:pt x="0" y="0"/>
                </a:lnTo>
                <a:lnTo>
                  <a:pt x="0" y="594893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5976" b="-13372"/>
            </a:stretch>
          </a:blipFill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1A42A5-F3A9-603E-4F79-2AD22F7E4846}"/>
              </a:ext>
            </a:extLst>
          </p:cNvPr>
          <p:cNvSpPr txBox="1"/>
          <p:nvPr/>
        </p:nvSpPr>
        <p:spPr>
          <a:xfrm>
            <a:off x="5320677" y="42907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983551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545</TotalTime>
  <Words>529</Words>
  <Application>Microsoft Office PowerPoint</Application>
  <PresentationFormat>Custom</PresentationFormat>
  <Paragraphs>122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Monda Bold</vt:lpstr>
      <vt:lpstr>Calibri</vt:lpstr>
      <vt:lpstr>Montserrat Bold</vt:lpstr>
      <vt:lpstr>Arial</vt:lpstr>
      <vt:lpstr>Monda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 Innohack</dc:title>
  <dc:creator>SURESH KUMAR</dc:creator>
  <cp:lastModifiedBy>sureshkumar k</cp:lastModifiedBy>
  <cp:revision>10</cp:revision>
  <dcterms:created xsi:type="dcterms:W3CDTF">2006-08-16T00:00:00Z</dcterms:created>
  <dcterms:modified xsi:type="dcterms:W3CDTF">2026-01-20T04:03:47Z</dcterms:modified>
  <dc:identifier>DAG9S8q_xxQ</dc:identifier>
</cp:coreProperties>
</file>